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AIアバターアシスタント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2FF"/>
                </a:solidFill>
              </a:defRPr>
            </a:pPr>
            <a:r>
              <a:t>Vonage Video + Anam.ai + ローカルLLM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474720"/>
            <a:ext cx="393192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BBCC"/>
                </a:solidFill>
              </a:defRPr>
            </a:pPr>
            <a:r>
              <a:t>詳細アーキテクチャ設計書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</a:defRPr>
            </a:pPr>
            <a:r>
              <a:t>pipecat-aiavatar-unifiedvideo-localllm-demo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</a:defRPr>
            </a:pPr>
            <a:r>
              <a:t>バージョン: 0.1.0  |  Python 3.11+  |  Pipecat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CC"/>
                </a:solidFill>
              </a:defRPr>
            </a:pPr>
            <a:r>
              <a:t>1/20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</a:defRPr>
            </a:pPr>
            <a:r>
              <a:t>目次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4712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CC"/>
                </a:solidFill>
              </a:defRPr>
            </a:pPr>
            <a:r>
              <a:t>2/20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3444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システム全体像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53896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アーキテクチャ概要図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013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0136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コンポーネント構成図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20824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レイヤー別コンポーネント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6829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68296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データフロー: 音声入力パス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58775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ユーザー → サーバー → LLM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3522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935224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データフロー: アバター応答パス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15468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LLM → Anam → ブラウザ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5021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50215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データフロー: 音声出力パス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72160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オプション: サーバーから音声返却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0690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06908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Pipecat パイプライン詳細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288536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STT / LLM / テキストブリッジ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6360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</a:defRPr>
            </a:pPr>
            <a: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63600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FastAPI サーバー設計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855464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REST / WebSocket / ライフサイクル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20293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</a:defRPr>
            </a:pPr>
            <a: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202936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Vonage Video API 統合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42239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セッション / トークン / Audio Connector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76986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</a:defRPr>
            </a:pPr>
            <a: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769864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Anam.ai 統合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98932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JS SDK / Talk Message Streaming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1234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</a:defRPr>
            </a:pPr>
            <a: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123444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フロントエンド実装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1453896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OT Publisher / Subscriber / WS Bridge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18013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</a:defRPr>
            </a:pPr>
            <a: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180136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環境設定・デプロイ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2020824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.env / Cloudflare Tunnel / Docker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236829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</a:defRPr>
            </a:pPr>
            <a:r>
              <a:t>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2368296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重要な技術的判断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258775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Option A/B / Text Bridge分離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293522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</a:defRPr>
            </a:pPr>
            <a:r>
              <a:t>13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29400" y="2935224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クラス図: bot.py ★Mermaid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29400" y="315468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Pipecat パイプラインクラス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35021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</a:defRPr>
            </a:pPr>
            <a:r>
              <a:t>14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29400" y="350215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クラス図: server.py ★Mermaid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29400" y="372160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FastAPI エンドポイント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40690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</a:defRPr>
            </a:pPr>
            <a:r>
              <a:t>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29400" y="406908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シーケンス図: 接続フロー ★Mermaid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29400" y="4288536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セッション確立シーケンス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0" y="46360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</a:defRPr>
            </a:pPr>
            <a:r>
              <a:t>16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29400" y="463600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シーケンス図: 会話フロー ★Mermaid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29400" y="4855464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音声会話シーケンス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7920" y="520293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</a:defRPr>
            </a:pPr>
            <a:r>
              <a:t>17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29400" y="5202936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デプロイ図 ★Mermaid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29400" y="542239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クラウド・ローカル構成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</a:defRPr>
            </a:pPr>
            <a:r>
              <a:t>1. システム全体像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AIアバターアシスタントのアーキテクチャ概要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CC"/>
                </a:solidFill>
              </a:defRPr>
            </a:pPr>
            <a:r>
              <a:t>3/20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11430000" cy="228600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</a:defRPr>
            </a:pPr>
            <a:r>
              <a:t>ブラウザ (static/)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2011680" cy="73152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ユーザー
Webカメラ+マイク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1737360"/>
            <a:ext cx="2286000" cy="73152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Anam.ai JS SDK
(TTS+アバター動画)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1737360"/>
            <a:ext cx="2286000" cy="73152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/ws-anam WebSocket
(LLMテキスト→Anam)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651760"/>
            <a:ext cx="7315200" cy="73152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FFFFFF"/>
                </a:solidFill>
              </a:rPr>
              <a:t>Vonage OpenTok JS SDK (OT.initSession)
publish(ユーザー/アバター) / subscribe(Audio Connector)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3749039"/>
            <a:ext cx="3931920" cy="5486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Cloudflare Tunnel (HTTPS/WSS)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4480560"/>
            <a:ext cx="11430000" cy="210312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480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</a:defRPr>
            </a:pPr>
            <a:r>
              <a:t>サーバー (FastAPI / Uvicorn)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937760"/>
            <a:ext cx="2011680" cy="64008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Vonage Video API
REST (Session/Token)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17520" y="4937760"/>
            <a:ext cx="3200400" cy="64008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/ws WebSocket
(Pipecat Pipeline)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760720"/>
            <a:ext cx="5029200" cy="64008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REST: /api/anam/session-token | /api/vonage/session | /health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4937760"/>
            <a:ext cx="5029200" cy="141732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Pipecat Pipeline
Audio In → STT(Whisper) → LLM(LM Studio) → Text Forwarder → Audio Out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1554480" y="3429000"/>
            <a:ext cx="914400" cy="27432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5029200" y="3429000"/>
            <a:ext cx="914400" cy="274320"/>
          </a:xfrm>
          <a:prstGeom prst="rightArrow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7955279" y="3429000"/>
            <a:ext cx="914400" cy="274320"/>
          </a:xfrm>
          <a:prstGeom prst="rightArrow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</a:defRPr>
            </a:pPr>
            <a:r>
              <a:t>2. コンポーネント構成図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レイヤー別コンポーネントと依存関係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CC"/>
                </a:solidFill>
              </a:defRPr>
            </a:pPr>
            <a:r>
              <a:t>4/20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11430000" cy="164592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</a:defRPr>
            </a:pPr>
            <a:r>
              <a:t>フロントエンド層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2103120" cy="64008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index.html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645920"/>
            <a:ext cx="2286000" cy="64008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script.js
(Anam SDK + OT)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1645920"/>
            <a:ext cx="2286000" cy="64008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/ws-anam
WebSocket Client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2286000" cy="64008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OpenTok JS SDK
OT.initSession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200400"/>
            <a:ext cx="11430000" cy="164592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200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</a:defRPr>
            </a:pPr>
            <a:r>
              <a:t>バックエンド層 (Python)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66160"/>
            <a:ext cx="2011680" cy="64008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server.py
FastAPI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34640" y="3566160"/>
            <a:ext cx="2011680" cy="64008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bot.py
Pipecat Pipeline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3566160"/>
            <a:ext cx="2011680" cy="64008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LLMTextBridge
(WS Bridge)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3566160"/>
            <a:ext cx="2011680" cy="64008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LLMTextForwarder
(FrameProcessor)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20" y="3566160"/>
            <a:ext cx="2011680" cy="64008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Vonage SDK
vonage-video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120640"/>
            <a:ext cx="11430000" cy="146304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120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933"/>
                </a:solidFill>
              </a:defRPr>
            </a:pPr>
            <a:r>
              <a:t>外部サービス層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486400"/>
            <a:ext cx="2286000" cy="73152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LM Studio
localhost:1234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0" y="5486400"/>
            <a:ext cx="2743200" cy="73152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Vonage Video API
video.api.vonage.com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5486400"/>
            <a:ext cx="2286000" cy="73152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Anam.ai Cloud
api.anam.ai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78240" y="5486400"/>
            <a:ext cx="2743200" cy="73152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Cloudflare Tunnel
trycloudflare.com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</a:defRPr>
            </a:pPr>
            <a:r>
              <a:t>3. データフロー: 音声入力パス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ユーザーの音声がLLMに到達するまでの経路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CC"/>
                </a:solidFill>
              </a:defRPr>
            </a:pPr>
            <a:r>
              <a:t>5/20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011680"/>
            <a:ext cx="1280160" cy="91440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1. ブラウザマイク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554480" y="2331720"/>
            <a:ext cx="201168" cy="22860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664208" y="2011680"/>
            <a:ext cx="1280160" cy="91440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2. OT Publisher
(配信)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944368" y="2331720"/>
            <a:ext cx="201168" cy="22860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054096" y="2011680"/>
            <a:ext cx="1280160" cy="91440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3. Vonage
セッション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334256" y="2331720"/>
            <a:ext cx="201168" cy="22860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43984" y="2011680"/>
            <a:ext cx="1280160" cy="91440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4. Audio
Connector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724144" y="2331720"/>
            <a:ext cx="201168" cy="228600"/>
          </a:xfrm>
          <a:prstGeom prst="rightArrow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833872" y="2011680"/>
            <a:ext cx="1280160" cy="91440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5. /ws
WebSocket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114031" y="2331720"/>
            <a:ext cx="201168" cy="228600"/>
          </a:xfrm>
          <a:prstGeom prst="rightArrow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223759" y="2011680"/>
            <a:ext cx="1280160" cy="91440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6. Whisper STT
(mlx-whisper)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503919" y="2331720"/>
            <a:ext cx="201168" cy="228600"/>
          </a:xfrm>
          <a:prstGeom prst="rightArrow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13648" y="2011680"/>
            <a:ext cx="1280160" cy="91440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7. LLMコンテキスト
(ユーザー入力)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893808" y="2331720"/>
            <a:ext cx="201168" cy="228600"/>
          </a:xfrm>
          <a:prstGeom prst="rightArrow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003536" y="2011680"/>
            <a:ext cx="1280160" cy="91440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8. LM Studio
(推論)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2918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・ブラウザマイク → OT Publisher → Vonage Session で音声配信 (static/script.js)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611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・Vonage Audio Connector が音声をWebSocket経由でサーバーに転送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931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・server.py /ws がVonageFrameSerializerでデシリアライズ (server.py:249)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251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・Pipecat: transport.input() → Silero VAD → Whisper STT (bot.py:172-176)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572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・Silero VAD: confidence=0.7, start_secs=0.3, stop_secs=0.8 (bot.py:157-164)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892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・Whisper STT: mlx-whisper LARGE_V3_TURBO_Q4, language=ja (bot.py:139-145)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21207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・LLMContextAggregator がユーザー入力をアグリゲーション → LM Studioに送信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</a:defRPr>
            </a:pPr>
            <a:r>
              <a:t>4. データフロー: アバター応答パス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LLM応答がアバターとしてユーザーに表示される経路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CC"/>
                </a:solidFill>
              </a:defRPr>
            </a:pPr>
            <a:r>
              <a:t>6/20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011680"/>
            <a:ext cx="1280160" cy="91440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1. LM Studio
(LLM応答)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554480" y="2331720"/>
            <a:ext cx="201168" cy="228600"/>
          </a:xfrm>
          <a:prstGeom prst="rightArrow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664208" y="2011680"/>
            <a:ext cx="1280160" cy="91440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2. LLMAssistant
Aggregator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944368" y="2331720"/>
            <a:ext cx="201168" cy="228600"/>
          </a:xfrm>
          <a:prstGeom prst="rightArrow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054096" y="2011680"/>
            <a:ext cx="1280160" cy="91440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3. LLMText
Forwarder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334256" y="2331720"/>
            <a:ext cx="201168" cy="228600"/>
          </a:xfrm>
          <a:prstGeom prst="rightArrow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43984" y="2011680"/>
            <a:ext cx="1280160" cy="91440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4. LLMText
Bridge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724144" y="2331720"/>
            <a:ext cx="201168" cy="228600"/>
          </a:xfrm>
          <a:prstGeom prst="rightArrow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833872" y="2011680"/>
            <a:ext cx="1280160" cy="91440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5. /ws-anam
WebSocket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114031" y="2331720"/>
            <a:ext cx="201168" cy="22860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223759" y="2011680"/>
            <a:ext cx="1280160" cy="91440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6. Anam SDK
createTalkMessage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503919" y="2331720"/>
            <a:ext cx="201168" cy="22860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13648" y="2011680"/>
            <a:ext cx="1280160" cy="91440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7. TTS+リップシンク
(Anam Cloud)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893808" y="2331720"/>
            <a:ext cx="201168" cy="228600"/>
          </a:xfrm>
          <a:prstGeom prst="rightArrow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003536" y="2011680"/>
            <a:ext cx="1280160" cy="91440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8. Vonage
配信→受信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2918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・LLM応答テキストをLLMAssistantAggregatorがTextFrameとして受信 (monkey-patchで下流転送 bot.py:41-51)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611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・LLMTextForwarder (FrameProcessor) がTextFrameをLLMTextBridgeに転送 (bot.py:103-116)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931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・LLMTextBridge.broadcast_text() が /ws-anam 接続ブラウザに送信 (bot.py:75-83)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251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・script.js が msg.type='llm_text' を受信 → anamClient.createTalkMessageStream()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572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・Anam SDKがクラウドでTTS + リップシンクアニメーションを生成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892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・アバター映像+音声をMediaStreamとして取得し、Vonageに配信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21207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・LLMFullResponseEndFrame で endMessage() を呼び出しストリーム終了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</a:defRPr>
            </a:pPr>
            <a:r>
              <a:t>5. データフロー: 音声出力パス (オプション)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Pipecat経由で音声をユーザーに返す経路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CC"/>
                </a:solidFill>
              </a:defRPr>
            </a:pPr>
            <a:r>
              <a:t>7/20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011680"/>
            <a:ext cx="1280160" cy="91440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1. LLM
応答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554480" y="2331720"/>
            <a:ext cx="201168" cy="228600"/>
          </a:xfrm>
          <a:prstGeom prst="rightArrow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664208" y="2011680"/>
            <a:ext cx="1280160" cy="91440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2. TextFrame
→ AudioOut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944368" y="2331720"/>
            <a:ext cx="201168" cy="228600"/>
          </a:xfrm>
          <a:prstGeom prst="rightArrow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054096" y="2011680"/>
            <a:ext cx="1280160" cy="91440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3. transport
.output()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334256" y="2331720"/>
            <a:ext cx="201168" cy="228600"/>
          </a:xfrm>
          <a:prstGeom prst="rightArrow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43984" y="2011680"/>
            <a:ext cx="1280160" cy="91440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4. /ws
WebSocket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724144" y="2331720"/>
            <a:ext cx="201168" cy="22860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833872" y="2011680"/>
            <a:ext cx="1280160" cy="91440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5. Audio
Connector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114031" y="2331720"/>
            <a:ext cx="201168" cy="22860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223759" y="2011680"/>
            <a:ext cx="1280160" cy="91440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6. Vonage
セッション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503919" y="2331720"/>
            <a:ext cx="201168" cy="22860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13648" y="2011680"/>
            <a:ext cx="1280160" cy="91440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7. ブラウザ
subscriber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918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・メインの音声返却はAnam TTSが担当 (アバター応答パス)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11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・Pipecat の transport.output() はAudio Connector経由で音声返却が可能 (bot.py:180)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931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・Anam SDKが利用できない場合のフォールバックとして機能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251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・AUDIO_OUT_SAMPLE_RATE = 16000Hz (bot.py:53, 環境変数 VONAGE_AUDIO_RATE)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572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・audio_out_10ms_chunks=2 で細かいチャンク分割 (server.py:260)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</a:defRPr>
            </a:pPr>
            <a:r>
              <a:t>6. Pipecat パイプライン詳細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bot.py のパイプライン構成とコンポーネント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CC"/>
                </a:solidFill>
              </a:defRPr>
            </a:pPr>
            <a:r>
              <a:t>8/20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1554480" cy="10058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</a:rPr>
              <a:t>transport.input()
FastAPIWebsocket
Transport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1371600"/>
            <a:ext cx="1554480" cy="10058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</a:rPr>
              <a:t>WhisperSTTServiceMLX
LARGE_V3_TURBO_Q4
lang=ja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1371600"/>
            <a:ext cx="1554480" cy="10058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</a:rPr>
              <a:t>LLMContextAggregator
(user/aggregator)
Silero VAD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371600"/>
            <a:ext cx="1554480" cy="10058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</a:rPr>
              <a:t>OpenAILLMService
LM Studio
(OpenAI互換)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371600"/>
            <a:ext cx="1554480" cy="10058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</a:rPr>
              <a:t>LLMContextAggregator
(assistant/agg)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1371600"/>
            <a:ext cx="1554480" cy="10058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</a:rPr>
              <a:t>LLMTextForwarder
→ /ws-anam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0" y="1371600"/>
            <a:ext cx="1554480" cy="10058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</a:rPr>
              <a:t>transport.output()
音声出力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920240" y="1737360"/>
            <a:ext cx="182880" cy="228600"/>
          </a:xfrm>
          <a:prstGeom prst="rightArrow">
            <a:avLst/>
          </a:prstGeom>
          <a:solidFill>
            <a:srgbClr val="BB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3657600" y="1737360"/>
            <a:ext cx="182880" cy="228600"/>
          </a:xfrm>
          <a:prstGeom prst="rightArrow">
            <a:avLst/>
          </a:prstGeom>
          <a:solidFill>
            <a:srgbClr val="BB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5394960" y="1737360"/>
            <a:ext cx="182880" cy="228600"/>
          </a:xfrm>
          <a:prstGeom prst="rightArrow">
            <a:avLst/>
          </a:prstGeom>
          <a:solidFill>
            <a:srgbClr val="BB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7132320" y="1737360"/>
            <a:ext cx="182880" cy="228600"/>
          </a:xfrm>
          <a:prstGeom prst="rightArrow">
            <a:avLst/>
          </a:prstGeom>
          <a:solidFill>
            <a:srgbClr val="BB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8869680" y="1737360"/>
            <a:ext cx="182880" cy="228600"/>
          </a:xfrm>
          <a:prstGeom prst="rightArrow">
            <a:avLst/>
          </a:prstGeom>
          <a:solidFill>
            <a:srgbClr val="BB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10607040" y="1737360"/>
            <a:ext cx="182880" cy="228600"/>
          </a:xfrm>
          <a:prstGeom prst="rightArrow">
            <a:avLst/>
          </a:prstGeom>
          <a:solidFill>
            <a:srgbClr val="BB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65760" y="2743200"/>
            <a:ext cx="5486400" cy="182880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743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4DFF"/>
                </a:solidFill>
              </a:defRPr>
            </a:pPr>
            <a:r>
              <a:t>Silero VAD パラメータ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063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confidence: 0.7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918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start_secs: 0.3秒 (音声開始判定)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520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stop_secs: 0.8秒 (無音判定)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74903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min_volume: 0.4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97763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audio_idle_timeout: 2.0秒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206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user_turn_stop_timeout: 5.0秒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2743200"/>
            <a:ext cx="5486400" cy="182880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2743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76"/>
                </a:solidFill>
              </a:defRPr>
            </a:pPr>
            <a:r>
              <a:t>LLMTextBridgeProcessor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0632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_clients: set[HasSendJson] (接続クライアント管理)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31927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add_client / remove_client で接続追加/削除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57530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broadcast_text → {type:'llm_text'} を全クライアントに送信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83133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broadcast_end → {type:'llm_end'} を全クライアントに送信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08736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送信失敗時は自動的にクライアントを削除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4846320"/>
            <a:ext cx="11430000" cy="109728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846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933"/>
                </a:solidFill>
              </a:defRPr>
            </a:pPr>
            <a:r>
              <a:t>Monkey-Patch: LLMAssistantAggregator 拡張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166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・_handle_text / _handle_llm_end をオーバーライドし、元処理後に push_frame(DOWNSTREAM) で下流転送 (bot.py:41-51)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394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・標準AggregatorはTextFrameを消費するため、下流のTTS/Forwarderに届かせる必要がある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</a:defRPr>
            </a:pPr>
            <a:r>
              <a:t>7. FastAPI サーバー設計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server.py のエンドポイントとライフサイクル管理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CC"/>
                </a:solidFill>
              </a:defRPr>
            </a:pPr>
            <a:r>
              <a:t>9/20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5303520" cy="256032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</a:defRPr>
            </a:pPr>
            <a:r>
              <a:t>REST API エンドポイント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</a:defRPr>
            </a:pPr>
            <a:r>
              <a:t>GET  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92807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static/index.html を返却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</a:defRPr>
            </a:pPr>
            <a:r>
              <a:t>GET  /health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9572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ヘルスチェック: {ok: true}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97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</a:defRPr>
            </a:pPr>
            <a:r>
              <a:t>POST /api/anam/session-token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89864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Anamセッショントークン生成 (aiohttp)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200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</a:defRPr>
            </a:pPr>
            <a:r>
              <a:t>POST /api/vonage/session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40156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Vonageセッション+Audio Connector作成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1280160"/>
            <a:ext cx="5760720" cy="256032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1280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</a:defRPr>
            </a:pPr>
            <a:r>
              <a:t>WebSocket エンドポイント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691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933"/>
                </a:solidFill>
              </a:defRPr>
            </a:pPr>
            <a:r>
              <a:t>GET  /favicon.ico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892807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204 No Content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194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933"/>
                </a:solidFill>
              </a:defRPr>
            </a:pPr>
            <a:r>
              <a:t>WS   /ws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395728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Vonage Audio Connector → Pipecat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697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933"/>
                </a:solidFill>
              </a:defRPr>
            </a:pPr>
            <a:r>
              <a:t>WS   /ws-anam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898648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LLMテキスト → Anam SDK ブリッジ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4114800"/>
            <a:ext cx="11430000" cy="246888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114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C4DFF"/>
                </a:solidFill>
              </a:defRPr>
            </a:pPr>
            <a:r>
              <a:t>ライフサイクル管理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4805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C4DFF"/>
                </a:solidFill>
              </a:defRPr>
            </a:pPr>
            <a:r>
              <a:t>@asynccontextmanager lifespan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4805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起動/終了時の処理を定義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8006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C4DFF"/>
                </a:solidFill>
              </a:defRPr>
            </a:pPr>
            <a:r>
              <a:t>startup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800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Logger初期化、Connector管理辞書の準備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1206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C4DFF"/>
                </a:solidFill>
              </a:defRPr>
            </a:pPr>
            <a:r>
              <a:t>shutdown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1206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全アクティブAudio Connectorを停止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4406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C4DFF"/>
                </a:solidFill>
              </a:defRPr>
            </a:pPr>
            <a:r>
              <a:t>keepalive()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54406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WebSocket接続のkeepaliveを10秒間隔で送信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7607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C4DFF"/>
                </a:solidFill>
              </a:defRPr>
            </a:pPr>
            <a:r>
              <a:t>cleanup()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57607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切断時にtransport.cleanup()を呼び出し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0807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C4DFF"/>
                </a:solidFill>
              </a:defRPr>
            </a:pPr>
            <a:r>
              <a:t>_active_connectors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080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dict管理、再接続時に古い接続を自動停止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</a:defRPr>
            </a:pPr>
            <a:r>
              <a:t>8. Vonage Video API 統合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セッション管理・トークン生成・Audio Connector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CC"/>
                </a:solidFill>
              </a:defRPr>
            </a:pPr>
            <a:r>
              <a:t>10/20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5486400" cy="228600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</a:defRPr>
            </a:pPr>
            <a:r>
              <a:t>セッション作成フロー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1. POST /api/vonage/session がリクエストを受信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0195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2. _create_vonage_client() でSDKクライアント生成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5798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3. _create_session_async() で非同期セッション作成 (run_in_executor)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1401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4. _connect_audio_connector_async() でAudio Connector接続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7004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5. _generate_client_token() でトークン生成 (role='publisher')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260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6. JSON応答: {session_id, token, application_id}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80160"/>
            <a:ext cx="5486400" cy="228600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280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</a:defRPr>
            </a:pPr>
            <a:r>
              <a:t>Audio Connector 管理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6459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AudioConnectorOptions: session_id / token / websocket.uri (/ws)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90195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audio_rate: 16000Hz, bidirectional: True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15798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_active_connectors: dict でセッションIDごとに管理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1401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新しい接続時に古いConnectorを自動停止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67004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シャットダウン時に全Connectorをクリーンアップ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840480"/>
            <a:ext cx="11430000" cy="228600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840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933"/>
                </a:solidFill>
              </a:defRPr>
            </a:pPr>
            <a:r>
              <a:t>Vonage SDK 使用方法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206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vonage &gt;= 3.3.1 / vonage-video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4622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vng = Vonage(auth=Auth(app_id, key), http_client_options=options)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71830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session = vng.video.create_session()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97433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token = vng.video.generate_client_token(TokenOptions(sid, role='publisher'))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230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connector = vng.video.start_audio_connector(audio_opts)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486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停止: DELETE /v2/project/{app_id}/connect?sessionId={sid}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</a:defRPr>
            </a:pPr>
            <a:r>
              <a:t>9. Anam.ai 統合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Anam SDK、セッショントークン、Talk Message Streaming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CC"/>
                </a:solidFill>
              </a:defRPr>
            </a:pPr>
            <a:r>
              <a:t>11/20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5486400" cy="228600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</a:defRPr>
            </a:pPr>
            <a:r>
              <a:t>セッショントークン生成 (サーバー側)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POST /api/anam/session-token (server.py:171)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5623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personaConfig: avatarId / voiceId / llmId=CUSTOMER_CLIENT_V1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1226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sessionOptions: sessionTimeout=3600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6829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→ api.anam.ai/v1/auth/session-token にPOST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2432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→ {sessionToken} をブラウザに返却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280160"/>
            <a:ext cx="5486400" cy="228600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280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</a:defRPr>
            </a:pPr>
            <a:r>
              <a:t>Anam JS SDK (ブラウザ側)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600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anamClient = createClient(token, {disableInputAudio: true})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85623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streams = await anamClient.stream() → video.srcObject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11226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stream = anamClient.createTalkMessageStream()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36829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stream.streamMessageChunk(text, false) でチャンク追加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62432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stream.endMessage() で終了 / interruptPersona() で割込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3840480"/>
            <a:ext cx="11430000" cy="256032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840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C4DFF"/>
                </a:solidFill>
              </a:defRPr>
            </a:pPr>
            <a:r>
              <a:t>Anam.ai 統合のポイント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206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・Anam SDKがTTS + リップシンクをクラウド処理 (ローカルGPU不要)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52627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・LLMテキスト出力を /ws-anam でブラウザ転送 → SDKがTTS実行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846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・生成MediaStreamをVonage OT Publisherで配信しユーザーに表示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16635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・LLMTextBridgeが複数ブラウザクライアントをset管理、切断時自動削除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</a:defRPr>
            </a:pPr>
            <a:r>
              <a:t>10. フロントエンド実装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script.js の OT Publisher/Subscriber と WebSocket Bridge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CC"/>
                </a:solidFill>
              </a:defRPr>
            </a:pPr>
            <a:r>
              <a:t>12/20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5486400" cy="274320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</a:defRPr>
            </a:pPr>
            <a:r>
              <a:t>接続フロー (connect())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Step 1: /api/anam/session-token でトークン取得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1965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Step 2: /api/vonage/session でVonageセッション作成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3911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Step 3: Anam SDK初期化 (createClient + stream)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5856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Step 4: OT.initSession + connect → createAndPublish x2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7802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  1. ユーザーWebカメラ+マイク / 2. Anam映像+音声(hidden)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974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Step 5: /ws-anam WebSocket接続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91693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Subscriber: audioOnly:true で音声のみ購読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280160"/>
            <a:ext cx="5486400" cy="274320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280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</a:defRPr>
            </a:pPr>
            <a:r>
              <a:t>WebSocket Bridge 処理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600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onmessage → JSON.parse 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81965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  type='llm_text' → handleLLMText(text)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03911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  type='llm_end' → handleLLMEnd()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25856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handleLLMText: createTalkMessageStream → streamMessageChunk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47802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handleLLMEnd: endMessage → currentTalkStream=null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6974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Keepalive: 15秒間隔でping送信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4297680"/>
            <a:ext cx="11430000" cy="228600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297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444"/>
                </a:solidFill>
              </a:defRPr>
            </a:pPr>
            <a:r>
              <a:t>切断処理 (disconnect())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663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・WebSocket切断: wsAnam.close(), pingタイマー停止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93775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・Publisher終了 → session.disconnect() → MediaStream停止 → anamClient.stopStreaming()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21207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・状態リセット: currentTalkStream = null、UIを「切断」に更新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</a:defRPr>
            </a:pPr>
            <a:r>
              <a:t>11. 環境設定・デプロイ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.env設定、Cloudflare Tunnel、Docker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CC"/>
                </a:solidFill>
              </a:defRPr>
            </a:pPr>
            <a:r>
              <a:t>13/20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5486400" cy="320040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</a:defRPr>
            </a:pPr>
            <a:r>
              <a:t>環境変数 (.env)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LM_STUDIO_BASE_URL=http://localhost:1234/v1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0136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LM_MODEL=gemma-4-26B-A4B-it-MLX-8bit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0253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STT_LANGUAGE=ja / VONAGE_AUDIO_RATE=16000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0370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VONAGE_APPLICATION_ID / VONAGE_PRIVATE_KEY=./private.key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0487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ANAM_API_KEY / ANAM_AVATAR_ID / ANAM_VOICE_ID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060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# WS_URI=wss://your-tunnel.trycloudflare.com/ws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80160"/>
            <a:ext cx="5486400" cy="320040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280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</a:defRPr>
            </a:pPr>
            <a:r>
              <a:t>デプロイ手順 (start.sh)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600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1. 既存cloudflared tunnelを終了 (pkill)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81965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2. cloudflared tunnel --url http://localhost:8005 を起動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3911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3. ポート8005の空き確認 → uv run python server.py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25856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4. /health で起動確認 → 公開URLを表示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47802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手動起動: cloudflared &amp; + uv run python server.py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6974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Docker: Dockerfile + docker-compose.yml 提供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4754880"/>
            <a:ext cx="11430000" cy="164592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933"/>
                </a:solidFill>
              </a:defRPr>
            </a:pPr>
            <a:r>
              <a:t>依存関係 (pyproject.toml)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120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・pipecat-ai[mlx-whisper,openai,runner,silero,websocket,whisper] &gt;= 1.4.0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39495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・vonage &gt;= 3.3.1 / vonage-video / fastapi / uvicorn[standard] / anam / python-dotenv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</a:defRPr>
            </a:pPr>
            <a:r>
              <a:t>12. 重要な技術的判断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設計上の重要な意思決定とその理由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CC"/>
                </a:solidFill>
              </a:defRPr>
            </a:pPr>
            <a:r>
              <a:t>14/20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11430000" cy="82296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</a:defRPr>
            </a:pPr>
            <a:r>
              <a:t>Option A (採用): ブラウザMediaStream経由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642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Anam映像+音声をMediaStream経由でVonage配信 / ECはGPUなしでWebGL不可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286000"/>
            <a:ext cx="11430000" cy="82296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</a:defRPr>
            </a:pPr>
            <a:r>
              <a:t>Text Bridge: LLM推論と描画の分離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78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LLMテキストを別WS(/ws-anam)で転送 / TTS+描画はAnamクラウド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200400"/>
            <a:ext cx="11430000" cy="82296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461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933"/>
                </a:solidFill>
              </a:defRPr>
            </a:pPr>
            <a:r>
              <a:t>Monkey-Patch: Aggregator拡張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4930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TextFrameを下流転送 / 標準実装は消費して届かないため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114800"/>
            <a:ext cx="11430000" cy="82296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1605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4DFF"/>
                </a:solidFill>
              </a:defRPr>
            </a:pPr>
            <a:r>
              <a:t>createAndPublish() ヘルパー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4074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initPublisher+publishをPromise化 / ストリーム確認後に進行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029200"/>
            <a:ext cx="11430000" cy="82296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0749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4444"/>
                </a:solidFill>
              </a:defRPr>
            </a:pPr>
            <a:r>
              <a:t>VonageFrameSerializer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3218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Audio Connector形式をPipecat互換に変換 / プロトコル統合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5943600"/>
            <a:ext cx="11430000" cy="82296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9893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</a:defRPr>
            </a:pPr>
            <a:r>
              <a:t>Silero VAD + Whisper STT (MLX)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2362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話者判定+音声認識 / Apple Siliconで高速処理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</a:defRPr>
            </a:pPr>
            <a:r>
              <a:t>13. クラス図: bot.py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Pipecat パイプラインのクラス関係 (Mermaid)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5-class-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418" y="1234440"/>
            <a:ext cx="6948114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BBCC"/>
                </a:solidFill>
              </a:defRPr>
            </a:pPr>
            <a:r>
              <a:t>対応ソース: bot.py:8-11 HasSendJson / 60-93 LLMTextBridgeProcessor / 103-116 LLMTextForwarder / 119-214 run_bot・bot ｜ 図ソース: doc/mermaid/15-class-bot.mmd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CC"/>
                </a:solidFill>
              </a:defRPr>
            </a:pPr>
            <a:r>
              <a:t>15/20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</a:defRPr>
            </a:pPr>
            <a:r>
              <a:t>14. クラス図: server.py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FastAPI エンドポイントとVonage SDK統合 (Mermaid)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6-class-ser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4244" y="1234440"/>
            <a:ext cx="6360463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BBCC"/>
                </a:solidFill>
              </a:defRPr>
            </a:pPr>
            <a:r>
              <a:t>対応ソース: server.py:34-128 ヘルパー関数群 / 144-239 REST / 242-313 WebSocket ｜ 図ソース: doc/mermaid/16-class-server.mmd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CC"/>
                </a:solidFill>
              </a:defRPr>
            </a:pPr>
            <a:r>
              <a:t>16/20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</a:defRPr>
            </a:pPr>
            <a:r>
              <a:t>15. シーケンス図: 接続フロー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ブラウザ ↔ サーバー ↔ 外部サービスのセッション確立 (Mermaid)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7-seq-conn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213" y="1234440"/>
            <a:ext cx="5046525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BBCC"/>
                </a:solidFill>
              </a:defRPr>
            </a:pPr>
            <a:r>
              <a:t>対応ソース: static/script.js:30-234 connect() / server.py:171-239 ｜ 図ソース: doc/mermaid/17-seq-connect.mmd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CC"/>
                </a:solidFill>
              </a:defRPr>
            </a:pPr>
            <a:r>
              <a:t>17/20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</a:defRPr>
            </a:pPr>
            <a:r>
              <a:t>16. シーケンス図: 会話フロー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ユーザー発話 → LLM応答 → アバター表示 (Mermaid)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8-seq-convers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4726" y="1234440"/>
            <a:ext cx="5319499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BBCC"/>
                </a:solidFill>
              </a:defRPr>
            </a:pPr>
            <a:r>
              <a:t>対応ソース: bot.py:139-180 パイプライン / bot.py:75-93 ブリッジ / script.js:239-264 ｜ 図ソース: doc/mermaid/18-seq-conversation.mmd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CC"/>
                </a:solidFill>
              </a:defRPr>
            </a:pPr>
            <a:r>
              <a:t>18/20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</a:defRPr>
            </a:pPr>
            <a:r>
              <a:t>17. デプロイ図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クラウド・ローカル構成とネットワーク (Mermaid)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9-deploy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007" y="1234440"/>
            <a:ext cx="7490936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BBCC"/>
                </a:solidFill>
              </a:defRPr>
            </a:pPr>
            <a:r>
              <a:t>対応ソース: start.sh / docker-compose.yml / .env.example ｜ 図ソース: doc/mermaid/19-deployment.mmd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CC"/>
                </a:solidFill>
              </a:defRPr>
            </a:pPr>
            <a:r>
              <a:t>19/20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ご清聴ありがとうございました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3200400"/>
            <a:ext cx="393192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D2FF"/>
                </a:solidFill>
              </a:defRPr>
            </a:pPr>
            <a:r>
              <a:t>AIアバターアシスタント — 詳細アーキテクチャ設計書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</a:defRPr>
            </a:pPr>
            <a:r>
              <a:t>pipecat-aiavatar-unifiedvideo-localllm-demo v0.1.0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CC"/>
                </a:solidFill>
              </a:defRPr>
            </a:pPr>
            <a:r>
              <a:t>20/20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